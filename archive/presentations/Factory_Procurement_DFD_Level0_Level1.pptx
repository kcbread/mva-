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F172A"/>
                </a:solidFill>
              </a:rPr>
              <a:t>工廠與採購 / Sourcing DFD - 第0層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</a:rPr>
              <a:t>P0 採購與供應管理系統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1371600" cy="640080"/>
          </a:xfrm>
          <a:prstGeom prst="roundRect">
            <a:avLst/>
          </a:prstGeom>
          <a:solidFill>
            <a:srgbClr val="DBEAFE"/>
          </a:solidFill>
          <a:ln w="228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40AF"/>
                </a:solidFill>
              </a:rPr>
              <a:t>工廠 / 使用部門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931920"/>
            <a:ext cx="1371600" cy="640080"/>
          </a:xfrm>
          <a:prstGeom prst="roundRect">
            <a:avLst/>
          </a:prstGeom>
          <a:solidFill>
            <a:srgbClr val="DBEAFE"/>
          </a:solidFill>
          <a:ln w="228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40AF"/>
                </a:solidFill>
              </a:rPr>
              <a:t>供應商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1463040"/>
            <a:ext cx="1280160" cy="640080"/>
          </a:xfrm>
          <a:prstGeom prst="roundRect">
            <a:avLst/>
          </a:prstGeom>
          <a:solidFill>
            <a:srgbClr val="DBEAFE"/>
          </a:solidFill>
          <a:ln w="228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40AF"/>
                </a:solidFill>
              </a:rPr>
              <a:t>管理層 / 審批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2743200"/>
            <a:ext cx="1280160" cy="640080"/>
          </a:xfrm>
          <a:prstGeom prst="roundRect">
            <a:avLst/>
          </a:prstGeom>
          <a:solidFill>
            <a:srgbClr val="DBEAFE"/>
          </a:solidFill>
          <a:ln w="228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40AF"/>
                </a:solidFill>
              </a:rPr>
              <a:t>ERP / 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4023360"/>
            <a:ext cx="1280160" cy="640080"/>
          </a:xfrm>
          <a:prstGeom prst="roundRect">
            <a:avLst/>
          </a:prstGeom>
          <a:solidFill>
            <a:srgbClr val="DBEAFE"/>
          </a:solidFill>
          <a:ln w="228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40AF"/>
                </a:solidFill>
              </a:rPr>
              <a:t>財務 / 倉庫</a:t>
            </a:r>
          </a:p>
        </p:txBody>
      </p:sp>
      <p:sp>
        <p:nvSpPr>
          <p:cNvPr id="9" name="Oval 8"/>
          <p:cNvSpPr/>
          <p:nvPr/>
        </p:nvSpPr>
        <p:spPr>
          <a:xfrm>
            <a:off x="4023360" y="1920240"/>
            <a:ext cx="3383280" cy="1920240"/>
          </a:xfrm>
          <a:prstGeom prst="ellipse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6A34A"/>
                </a:solidFill>
              </a:rPr>
              <a:t>P0
採購與供應管理系統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4846320"/>
            <a:ext cx="1828800" cy="548640"/>
          </a:xfrm>
          <a:prstGeom prst="rect">
            <a:avLst/>
          </a:prstGeom>
          <a:solidFill>
            <a:srgbClr val="E2E8F0"/>
          </a:solidFill>
          <a:ln w="1778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75569"/>
                </a:solidFill>
              </a:rPr>
              <a:t>D1 需求/料號/BOM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4846320"/>
            <a:ext cx="1828800" cy="548640"/>
          </a:xfrm>
          <a:prstGeom prst="rect">
            <a:avLst/>
          </a:prstGeom>
          <a:solidFill>
            <a:srgbClr val="E2E8F0"/>
          </a:solidFill>
          <a:ln w="1778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75569"/>
                </a:solidFill>
              </a:rPr>
              <a:t>D2 供應商/報價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4846320"/>
            <a:ext cx="1828800" cy="548640"/>
          </a:xfrm>
          <a:prstGeom prst="rect">
            <a:avLst/>
          </a:prstGeom>
          <a:solidFill>
            <a:srgbClr val="E2E8F0"/>
          </a:solidFill>
          <a:ln w="1778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75569"/>
                </a:solidFill>
              </a:rPr>
              <a:t>D3 PO/收貨/對帳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45920" y="1783080"/>
            <a:ext cx="2377440" cy="59436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645920" y="3291840"/>
            <a:ext cx="2377440" cy="96012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406640" y="1783080"/>
            <a:ext cx="2560320" cy="59436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06640" y="2743200"/>
            <a:ext cx="2560320" cy="32004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06640" y="3291840"/>
            <a:ext cx="2560320" cy="105156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657600" y="3840480"/>
            <a:ext cx="914400" cy="100584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69280" y="3840480"/>
            <a:ext cx="91440" cy="100584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66560" y="3840480"/>
            <a:ext cx="1005840" cy="100584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F172A"/>
                </a:solidFill>
              </a:rPr>
              <a:t>工廠與採購 / Sourcing DFD - 第1層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</a:rPr>
              <a:t>需求管理、詢比議價、PO執行、收貨對帳分析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868680"/>
            <a:ext cx="1371600" cy="502920"/>
          </a:xfrm>
          <a:prstGeom prst="roundRect">
            <a:avLst/>
          </a:prstGeom>
          <a:solidFill>
            <a:srgbClr val="DBEAFE"/>
          </a:solidFill>
          <a:ln w="228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40AF"/>
                </a:solidFill>
              </a:rPr>
              <a:t>工廠 / 使用部門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5394960"/>
            <a:ext cx="1371600" cy="502920"/>
          </a:xfrm>
          <a:prstGeom prst="roundRect">
            <a:avLst/>
          </a:prstGeom>
          <a:solidFill>
            <a:srgbClr val="DBEAFE"/>
          </a:solidFill>
          <a:ln w="228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40AF"/>
                </a:solidFill>
              </a:rPr>
              <a:t>供應商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868680"/>
            <a:ext cx="1371600" cy="502920"/>
          </a:xfrm>
          <a:prstGeom prst="roundRect">
            <a:avLst/>
          </a:prstGeom>
          <a:solidFill>
            <a:srgbClr val="DBEAFE"/>
          </a:solidFill>
          <a:ln w="228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40AF"/>
                </a:solidFill>
              </a:rPr>
              <a:t>管理層 / 審批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2926080"/>
            <a:ext cx="1371600" cy="502920"/>
          </a:xfrm>
          <a:prstGeom prst="roundRect">
            <a:avLst/>
          </a:prstGeom>
          <a:solidFill>
            <a:srgbClr val="DBEAFE"/>
          </a:solidFill>
          <a:ln w="228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40AF"/>
                </a:solidFill>
              </a:rPr>
              <a:t>ERP / 倉庫 / 財務</a:t>
            </a:r>
          </a:p>
        </p:txBody>
      </p:sp>
      <p:sp>
        <p:nvSpPr>
          <p:cNvPr id="8" name="Oval 7"/>
          <p:cNvSpPr/>
          <p:nvPr/>
        </p:nvSpPr>
        <p:spPr>
          <a:xfrm>
            <a:off x="1737360" y="1097280"/>
            <a:ext cx="1417320" cy="868680"/>
          </a:xfrm>
          <a:prstGeom prst="ellipse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6A34A"/>
                </a:solidFill>
              </a:rPr>
              <a:t>P1
需求管理</a:t>
            </a:r>
          </a:p>
        </p:txBody>
      </p:sp>
      <p:sp>
        <p:nvSpPr>
          <p:cNvPr id="9" name="Oval 8"/>
          <p:cNvSpPr/>
          <p:nvPr/>
        </p:nvSpPr>
        <p:spPr>
          <a:xfrm>
            <a:off x="3474720" y="1097280"/>
            <a:ext cx="1417320" cy="868680"/>
          </a:xfrm>
          <a:prstGeom prst="ellipse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6A34A"/>
                </a:solidFill>
              </a:rPr>
              <a:t>P2
供應商管理</a:t>
            </a:r>
          </a:p>
        </p:txBody>
      </p:sp>
      <p:sp>
        <p:nvSpPr>
          <p:cNvPr id="10" name="Oval 9"/>
          <p:cNvSpPr/>
          <p:nvPr/>
        </p:nvSpPr>
        <p:spPr>
          <a:xfrm>
            <a:off x="5212080" y="1097280"/>
            <a:ext cx="1600200" cy="868680"/>
          </a:xfrm>
          <a:prstGeom prst="ellipse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6A34A"/>
                </a:solidFill>
              </a:rPr>
              <a:t>P3
詢比議價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0" y="1097280"/>
            <a:ext cx="1417320" cy="868680"/>
          </a:xfrm>
          <a:prstGeom prst="ellipse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6A34A"/>
                </a:solidFill>
              </a:rPr>
              <a:t>P4
審批流程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2880360"/>
            <a:ext cx="1417320" cy="868680"/>
          </a:xfrm>
          <a:prstGeom prst="ellipse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6A34A"/>
                </a:solidFill>
              </a:rPr>
              <a:t>P5
PO執行</a:t>
            </a:r>
          </a:p>
        </p:txBody>
      </p:sp>
      <p:sp>
        <p:nvSpPr>
          <p:cNvPr id="13" name="Oval 12"/>
          <p:cNvSpPr/>
          <p:nvPr/>
        </p:nvSpPr>
        <p:spPr>
          <a:xfrm>
            <a:off x="3977639" y="2880360"/>
            <a:ext cx="1417320" cy="868680"/>
          </a:xfrm>
          <a:prstGeom prst="ellipse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6A34A"/>
                </a:solidFill>
              </a:rPr>
              <a:t>P6
交期追蹤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880360"/>
            <a:ext cx="1600200" cy="868680"/>
          </a:xfrm>
          <a:prstGeom prst="ellipse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6A34A"/>
                </a:solidFill>
              </a:rPr>
              <a:t>P7
收貨/異常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0" y="2880360"/>
            <a:ext cx="1600200" cy="868680"/>
          </a:xfrm>
          <a:prstGeom prst="ellipse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6A34A"/>
                </a:solidFill>
              </a:rPr>
              <a:t>P8
對帳/分析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4617720"/>
            <a:ext cx="1463040" cy="502920"/>
          </a:xfrm>
          <a:prstGeom prst="rect">
            <a:avLst/>
          </a:prstGeom>
          <a:solidFill>
            <a:srgbClr val="E2E8F0"/>
          </a:solidFill>
          <a:ln w="1778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75569"/>
                </a:solidFill>
              </a:rPr>
              <a:t>D1 需求/BOM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4617720"/>
            <a:ext cx="1463040" cy="502920"/>
          </a:xfrm>
          <a:prstGeom prst="rect">
            <a:avLst/>
          </a:prstGeom>
          <a:solidFill>
            <a:srgbClr val="E2E8F0"/>
          </a:solidFill>
          <a:ln w="1778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75569"/>
                </a:solidFill>
              </a:rPr>
              <a:t>D2 供應商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4617720"/>
            <a:ext cx="1463040" cy="502920"/>
          </a:xfrm>
          <a:prstGeom prst="rect">
            <a:avLst/>
          </a:prstGeom>
          <a:solidFill>
            <a:srgbClr val="E2E8F0"/>
          </a:solidFill>
          <a:ln w="1778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75569"/>
                </a:solidFill>
              </a:rPr>
              <a:t>D3 報價/比價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4617720"/>
            <a:ext cx="1463040" cy="502920"/>
          </a:xfrm>
          <a:prstGeom prst="rect">
            <a:avLst/>
          </a:prstGeom>
          <a:solidFill>
            <a:srgbClr val="E2E8F0"/>
          </a:solidFill>
          <a:ln w="1778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75569"/>
                </a:solidFill>
              </a:rPr>
              <a:t>D4 PO/交期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4617720"/>
            <a:ext cx="1463040" cy="502920"/>
          </a:xfrm>
          <a:prstGeom prst="rect">
            <a:avLst/>
          </a:prstGeom>
          <a:solidFill>
            <a:srgbClr val="E2E8F0"/>
          </a:solidFill>
          <a:ln w="1778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75569"/>
                </a:solidFill>
              </a:rPr>
              <a:t>D5 收貨/對帳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1124712"/>
            <a:ext cx="182880" cy="338328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154680" y="1536192"/>
            <a:ext cx="320040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892040" y="1536192"/>
            <a:ext cx="320040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12280" y="1536192"/>
            <a:ext cx="320040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549640" y="1124712"/>
            <a:ext cx="1417320" cy="41148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468880" y="1965960"/>
            <a:ext cx="3520440" cy="91440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154680" y="3319272"/>
            <a:ext cx="822959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394960" y="3319272"/>
            <a:ext cx="822960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18120" y="3319272"/>
            <a:ext cx="594360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012680" y="3182112"/>
            <a:ext cx="1280160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77440" y="3749039"/>
            <a:ext cx="0" cy="868681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160520" y="1965960"/>
            <a:ext cx="0" cy="265176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943600" y="1965960"/>
            <a:ext cx="0" cy="265176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589520" y="3749039"/>
            <a:ext cx="228600" cy="868681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35440" y="3749039"/>
            <a:ext cx="91440" cy="868681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