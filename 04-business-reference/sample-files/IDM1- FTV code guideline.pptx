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57" r:id="rId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96EDA-698D-4F11-88EE-897A68E1650C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14701-FDB7-4837-9ABA-F5BB6153F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36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01-FDB7-4837-9ABA-F5BB6153F3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14701-FDB7-4837-9ABA-F5BB6153F3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762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9534" y="-14274"/>
            <a:ext cx="693293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9214" y="1844167"/>
            <a:ext cx="11453571" cy="3884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356992" y="517398"/>
          <a:ext cx="4925694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1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dirty="0">
                          <a:latin typeface="Arial"/>
                          <a:cs typeface="Arial"/>
                        </a:rPr>
                        <a:t>H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dirty="0">
                          <a:latin typeface="Arial"/>
                          <a:cs typeface="Arial"/>
                        </a:rPr>
                        <a:t>F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dirty="0">
                          <a:latin typeface="Arial"/>
                          <a:cs typeface="Arial"/>
                        </a:rPr>
                        <a:t>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spc="-35" dirty="0">
                          <a:latin typeface="Arial"/>
                          <a:cs typeface="Arial"/>
                        </a:rPr>
                        <a:t>AB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dirty="0">
                          <a:latin typeface="Arial"/>
                          <a:cs typeface="Arial"/>
                        </a:rPr>
                        <a:t>-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spc="-15" dirty="0">
                          <a:latin typeface="Arial"/>
                          <a:cs typeface="Arial"/>
                        </a:rPr>
                        <a:t>1001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44603"/>
            <a:ext cx="83058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935" algn="l">
              <a:lnSpc>
                <a:spcPct val="100000"/>
              </a:lnSpc>
              <a:spcBef>
                <a:spcPts val="105"/>
              </a:spcBef>
            </a:pPr>
            <a:r>
              <a:rPr spc="-100" dirty="0"/>
              <a:t>FTV</a:t>
            </a:r>
            <a:r>
              <a:rPr spc="-630" dirty="0"/>
              <a:t> </a:t>
            </a:r>
            <a:r>
              <a:rPr lang="en-US" spc="-630" dirty="0"/>
              <a:t> </a:t>
            </a:r>
            <a:r>
              <a:rPr spc="-100" dirty="0"/>
              <a:t>code</a:t>
            </a:r>
            <a:r>
              <a:rPr spc="-484" dirty="0"/>
              <a:t> </a:t>
            </a:r>
            <a:r>
              <a:rPr spc="-135" dirty="0"/>
              <a:t>guideline</a:t>
            </a:r>
            <a:r>
              <a:rPr spc="-515" dirty="0"/>
              <a:t> </a:t>
            </a:r>
            <a:r>
              <a:rPr lang="en-US" spc="-515" dirty="0"/>
              <a:t> </a:t>
            </a:r>
            <a:r>
              <a:rPr spc="-35" dirty="0"/>
              <a:t>for</a:t>
            </a:r>
            <a:r>
              <a:rPr lang="en-US" spc="-35" dirty="0"/>
              <a:t> DMS</a:t>
            </a:r>
            <a:endParaRPr spc="-35" dirty="0"/>
          </a:p>
        </p:txBody>
      </p:sp>
      <p:sp>
        <p:nvSpPr>
          <p:cNvPr id="4" name="object 4"/>
          <p:cNvSpPr txBox="1"/>
          <p:nvPr/>
        </p:nvSpPr>
        <p:spPr>
          <a:xfrm>
            <a:off x="201168" y="1168908"/>
            <a:ext cx="2044064" cy="609600"/>
          </a:xfrm>
          <a:prstGeom prst="rect">
            <a:avLst/>
          </a:prstGeom>
          <a:solidFill>
            <a:srgbClr val="F4AE83"/>
          </a:solidFill>
        </p:spPr>
        <p:txBody>
          <a:bodyPr vert="horz" wrap="square" lIns="0" tIns="13970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100"/>
              </a:spcBef>
            </a:pPr>
            <a:r>
              <a:rPr sz="1800" spc="-5" dirty="0">
                <a:latin typeface="Arial"/>
                <a:cs typeface="Arial"/>
              </a:rPr>
              <a:t>H- </a:t>
            </a:r>
            <a:r>
              <a:rPr sz="1800" spc="-10" dirty="0">
                <a:latin typeface="Arial"/>
                <a:cs typeface="Arial"/>
              </a:rPr>
              <a:t>Hanoi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factory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168" y="1969007"/>
            <a:ext cx="2044064" cy="609600"/>
          </a:xfrm>
          <a:prstGeom prst="rect">
            <a:avLst/>
          </a:prstGeom>
          <a:solidFill>
            <a:srgbClr val="F4AE83"/>
          </a:solidFill>
        </p:spPr>
        <p:txBody>
          <a:bodyPr vert="horz" wrap="square" lIns="0" tIns="142240" rIns="0" bIns="0" rtlCol="0">
            <a:spAutoFit/>
          </a:bodyPr>
          <a:lstStyle/>
          <a:p>
            <a:pPr marL="600075">
              <a:lnSpc>
                <a:spcPct val="100000"/>
              </a:lnSpc>
              <a:spcBef>
                <a:spcPts val="1120"/>
              </a:spcBef>
            </a:pPr>
            <a:r>
              <a:rPr sz="1800" dirty="0">
                <a:latin typeface="Arial"/>
                <a:cs typeface="Arial"/>
              </a:rPr>
              <a:t>F-Fushan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168" y="2770632"/>
            <a:ext cx="2044064" cy="1363980"/>
          </a:xfrm>
          <a:prstGeom prst="rect">
            <a:avLst/>
          </a:prstGeom>
          <a:solidFill>
            <a:srgbClr val="F4AE8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60"/>
              </a:lnSpc>
            </a:pPr>
            <a:r>
              <a:rPr sz="1800" b="1" spc="-5" dirty="0">
                <a:latin typeface="Arial"/>
                <a:cs typeface="Arial"/>
              </a:rPr>
              <a:t>S</a:t>
            </a:r>
            <a:r>
              <a:rPr sz="1800" spc="-5" dirty="0">
                <a:latin typeface="Arial"/>
                <a:cs typeface="Arial"/>
              </a:rPr>
              <a:t>: </a:t>
            </a:r>
            <a:r>
              <a:rPr sz="1800" spc="-15" dirty="0">
                <a:latin typeface="Arial"/>
                <a:cs typeface="Arial"/>
              </a:rPr>
              <a:t>Spare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parts</a:t>
            </a:r>
            <a:endParaRPr sz="1800">
              <a:latin typeface="Arial"/>
              <a:cs typeface="Arial"/>
            </a:endParaRPr>
          </a:p>
          <a:p>
            <a:pPr marL="200025" marR="170815" algn="ctr">
              <a:lnSpc>
                <a:spcPct val="100000"/>
              </a:lnSpc>
            </a:pPr>
            <a:r>
              <a:rPr sz="1800" b="1" spc="-40" dirty="0">
                <a:latin typeface="Arial"/>
                <a:cs typeface="Arial"/>
              </a:rPr>
              <a:t>J</a:t>
            </a:r>
            <a:r>
              <a:rPr sz="1800" spc="-40" dirty="0">
                <a:latin typeface="Arial"/>
                <a:cs typeface="Arial"/>
              </a:rPr>
              <a:t>:Jig/Tools/Fixtur  </a:t>
            </a:r>
            <a:r>
              <a:rPr sz="1800" spc="-5" dirty="0">
                <a:latin typeface="Arial"/>
                <a:cs typeface="Arial"/>
              </a:rPr>
              <a:t>e/</a:t>
            </a:r>
            <a:r>
              <a:rPr sz="1800" spc="4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Machine</a:t>
            </a:r>
            <a:endParaRPr sz="1800">
              <a:latin typeface="Arial"/>
              <a:cs typeface="Arial"/>
            </a:endParaRPr>
          </a:p>
          <a:p>
            <a:pPr marL="248920" marR="229870" algn="ctr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:</a:t>
            </a:r>
            <a:r>
              <a:rPr sz="1800" spc="-1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Consumable  parts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168" y="4335779"/>
            <a:ext cx="2044064" cy="609600"/>
          </a:xfrm>
          <a:prstGeom prst="rect">
            <a:avLst/>
          </a:prstGeom>
          <a:solidFill>
            <a:srgbClr val="F4AE83"/>
          </a:solidFill>
        </p:spPr>
        <p:txBody>
          <a:bodyPr vert="horz" wrap="square" lIns="0" tIns="142875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1125"/>
              </a:spcBef>
            </a:pPr>
            <a:r>
              <a:rPr sz="1800" spc="-5" dirty="0">
                <a:latin typeface="Arial"/>
                <a:cs typeface="Arial"/>
              </a:rPr>
              <a:t>Department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168" y="5146547"/>
            <a:ext cx="2043430" cy="609600"/>
          </a:xfrm>
          <a:prstGeom prst="rect">
            <a:avLst/>
          </a:prstGeom>
          <a:solidFill>
            <a:srgbClr val="F4AE83"/>
          </a:solidFill>
        </p:spPr>
        <p:txBody>
          <a:bodyPr vert="horz" wrap="square" lIns="0" tIns="6286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495"/>
              </a:spcBef>
            </a:pPr>
            <a:r>
              <a:rPr sz="1800" spc="-20" dirty="0">
                <a:latin typeface="Arial"/>
                <a:cs typeface="Arial"/>
              </a:rPr>
              <a:t>Symbol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  <a:p>
            <a:pPr marL="130810">
              <a:lnSpc>
                <a:spcPts val="2145"/>
              </a:lnSpc>
            </a:pPr>
            <a:r>
              <a:rPr sz="1800" spc="-30" dirty="0">
                <a:latin typeface="Arial"/>
                <a:cs typeface="Arial"/>
              </a:rPr>
              <a:t>separate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1168" y="940307"/>
            <a:ext cx="10055351" cy="5927725"/>
            <a:chOff x="201168" y="940307"/>
            <a:chExt cx="10055351" cy="5927725"/>
          </a:xfrm>
        </p:grpSpPr>
        <p:sp>
          <p:nvSpPr>
            <p:cNvPr id="10" name="object 10"/>
            <p:cNvSpPr/>
            <p:nvPr/>
          </p:nvSpPr>
          <p:spPr>
            <a:xfrm>
              <a:off x="201168" y="5946647"/>
              <a:ext cx="2043430" cy="609600"/>
            </a:xfrm>
            <a:custGeom>
              <a:avLst/>
              <a:gdLst/>
              <a:ahLst/>
              <a:cxnLst/>
              <a:rect l="l" t="t" r="r" b="b"/>
              <a:pathLst>
                <a:path w="2043430" h="609600">
                  <a:moveTo>
                    <a:pt x="2043303" y="0"/>
                  </a:moveTo>
                  <a:lnTo>
                    <a:pt x="0" y="0"/>
                  </a:lnTo>
                  <a:lnTo>
                    <a:pt x="0" y="601980"/>
                  </a:lnTo>
                  <a:lnTo>
                    <a:pt x="0" y="609600"/>
                  </a:lnTo>
                  <a:lnTo>
                    <a:pt x="2043303" y="609600"/>
                  </a:lnTo>
                  <a:lnTo>
                    <a:pt x="2043303" y="601980"/>
                  </a:lnTo>
                  <a:lnTo>
                    <a:pt x="2043303" y="0"/>
                  </a:lnTo>
                  <a:close/>
                </a:path>
              </a:pathLst>
            </a:custGeom>
            <a:solidFill>
              <a:srgbClr val="F4AE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34184" y="940307"/>
              <a:ext cx="4384675" cy="5363210"/>
            </a:xfrm>
            <a:custGeom>
              <a:avLst/>
              <a:gdLst/>
              <a:ahLst/>
              <a:cxnLst/>
              <a:rect l="l" t="t" r="r" b="b"/>
              <a:pathLst>
                <a:path w="4384675" h="5363210">
                  <a:moveTo>
                    <a:pt x="508889" y="62230"/>
                  </a:moveTo>
                  <a:lnTo>
                    <a:pt x="495554" y="62230"/>
                  </a:lnTo>
                  <a:lnTo>
                    <a:pt x="495554" y="74930"/>
                  </a:lnTo>
                  <a:lnTo>
                    <a:pt x="496189" y="74930"/>
                  </a:lnTo>
                  <a:lnTo>
                    <a:pt x="496189" y="526542"/>
                  </a:lnTo>
                  <a:lnTo>
                    <a:pt x="46609" y="526542"/>
                  </a:lnTo>
                  <a:lnTo>
                    <a:pt x="105664" y="492125"/>
                  </a:lnTo>
                  <a:lnTo>
                    <a:pt x="106680" y="488315"/>
                  </a:lnTo>
                  <a:lnTo>
                    <a:pt x="103124" y="482219"/>
                  </a:lnTo>
                  <a:lnTo>
                    <a:pt x="99314" y="481203"/>
                  </a:lnTo>
                  <a:lnTo>
                    <a:pt x="10668" y="532892"/>
                  </a:lnTo>
                  <a:lnTo>
                    <a:pt x="99314" y="584581"/>
                  </a:lnTo>
                  <a:lnTo>
                    <a:pt x="103124" y="583565"/>
                  </a:lnTo>
                  <a:lnTo>
                    <a:pt x="106680" y="577469"/>
                  </a:lnTo>
                  <a:lnTo>
                    <a:pt x="105664" y="573659"/>
                  </a:lnTo>
                  <a:lnTo>
                    <a:pt x="46609" y="539242"/>
                  </a:lnTo>
                  <a:lnTo>
                    <a:pt x="508889" y="539242"/>
                  </a:lnTo>
                  <a:lnTo>
                    <a:pt x="508889" y="62230"/>
                  </a:lnTo>
                  <a:close/>
                </a:path>
                <a:path w="4384675" h="5363210">
                  <a:moveTo>
                    <a:pt x="1326896" y="72898"/>
                  </a:moveTo>
                  <a:lnTo>
                    <a:pt x="1313561" y="72898"/>
                  </a:lnTo>
                  <a:lnTo>
                    <a:pt x="1313561" y="1306449"/>
                  </a:lnTo>
                  <a:lnTo>
                    <a:pt x="46609" y="1306449"/>
                  </a:lnTo>
                  <a:lnTo>
                    <a:pt x="105664" y="1272032"/>
                  </a:lnTo>
                  <a:lnTo>
                    <a:pt x="106680" y="1268222"/>
                  </a:lnTo>
                  <a:lnTo>
                    <a:pt x="103124" y="1262126"/>
                  </a:lnTo>
                  <a:lnTo>
                    <a:pt x="99314" y="1261110"/>
                  </a:lnTo>
                  <a:lnTo>
                    <a:pt x="10668" y="1312799"/>
                  </a:lnTo>
                  <a:lnTo>
                    <a:pt x="99314" y="1364361"/>
                  </a:lnTo>
                  <a:lnTo>
                    <a:pt x="103124" y="1363345"/>
                  </a:lnTo>
                  <a:lnTo>
                    <a:pt x="106680" y="1357249"/>
                  </a:lnTo>
                  <a:lnTo>
                    <a:pt x="105664" y="1353439"/>
                  </a:lnTo>
                  <a:lnTo>
                    <a:pt x="46609" y="1319149"/>
                  </a:lnTo>
                  <a:lnTo>
                    <a:pt x="1326261" y="1319149"/>
                  </a:lnTo>
                  <a:lnTo>
                    <a:pt x="1326261" y="85598"/>
                  </a:lnTo>
                  <a:lnTo>
                    <a:pt x="1326896" y="85598"/>
                  </a:lnTo>
                  <a:lnTo>
                    <a:pt x="1326896" y="72898"/>
                  </a:lnTo>
                  <a:close/>
                </a:path>
                <a:path w="4384675" h="5363210">
                  <a:moveTo>
                    <a:pt x="2163318" y="60960"/>
                  </a:moveTo>
                  <a:lnTo>
                    <a:pt x="2150618" y="60960"/>
                  </a:lnTo>
                  <a:lnTo>
                    <a:pt x="2150618" y="2506091"/>
                  </a:lnTo>
                  <a:lnTo>
                    <a:pt x="46609" y="2506091"/>
                  </a:lnTo>
                  <a:lnTo>
                    <a:pt x="105664" y="2471674"/>
                  </a:lnTo>
                  <a:lnTo>
                    <a:pt x="106680" y="2467737"/>
                  </a:lnTo>
                  <a:lnTo>
                    <a:pt x="103124" y="2461768"/>
                  </a:lnTo>
                  <a:lnTo>
                    <a:pt x="99314" y="2460625"/>
                  </a:lnTo>
                  <a:lnTo>
                    <a:pt x="10668" y="2512441"/>
                  </a:lnTo>
                  <a:lnTo>
                    <a:pt x="99314" y="2564130"/>
                  </a:lnTo>
                  <a:lnTo>
                    <a:pt x="103124" y="2563114"/>
                  </a:lnTo>
                  <a:lnTo>
                    <a:pt x="106680" y="2557018"/>
                  </a:lnTo>
                  <a:lnTo>
                    <a:pt x="105664" y="2553081"/>
                  </a:lnTo>
                  <a:lnTo>
                    <a:pt x="46863" y="2518791"/>
                  </a:lnTo>
                  <a:lnTo>
                    <a:pt x="2163318" y="2518791"/>
                  </a:lnTo>
                  <a:lnTo>
                    <a:pt x="2163318" y="60960"/>
                  </a:lnTo>
                  <a:close/>
                </a:path>
                <a:path w="4384675" h="5363210">
                  <a:moveTo>
                    <a:pt x="3040253" y="0"/>
                  </a:moveTo>
                  <a:lnTo>
                    <a:pt x="3027553" y="0"/>
                  </a:lnTo>
                  <a:lnTo>
                    <a:pt x="3027553" y="3680968"/>
                  </a:lnTo>
                  <a:lnTo>
                    <a:pt x="30480" y="3680968"/>
                  </a:lnTo>
                  <a:lnTo>
                    <a:pt x="87884" y="3634740"/>
                  </a:lnTo>
                  <a:lnTo>
                    <a:pt x="88392" y="3630803"/>
                  </a:lnTo>
                  <a:lnTo>
                    <a:pt x="83947" y="3625342"/>
                  </a:lnTo>
                  <a:lnTo>
                    <a:pt x="80010" y="3624834"/>
                  </a:lnTo>
                  <a:lnTo>
                    <a:pt x="0" y="3689096"/>
                  </a:lnTo>
                  <a:lnTo>
                    <a:pt x="95250" y="3727196"/>
                  </a:lnTo>
                  <a:lnTo>
                    <a:pt x="98933" y="3725545"/>
                  </a:lnTo>
                  <a:lnTo>
                    <a:pt x="101600" y="3719068"/>
                  </a:lnTo>
                  <a:lnTo>
                    <a:pt x="99949" y="3715385"/>
                  </a:lnTo>
                  <a:lnTo>
                    <a:pt x="45593" y="3693668"/>
                  </a:lnTo>
                  <a:lnTo>
                    <a:pt x="3040253" y="3693668"/>
                  </a:lnTo>
                  <a:lnTo>
                    <a:pt x="3040253" y="0"/>
                  </a:lnTo>
                  <a:close/>
                </a:path>
                <a:path w="4384675" h="5363210">
                  <a:moveTo>
                    <a:pt x="3556635" y="79248"/>
                  </a:moveTo>
                  <a:lnTo>
                    <a:pt x="3543935" y="79248"/>
                  </a:lnTo>
                  <a:lnTo>
                    <a:pt x="3543935" y="4504690"/>
                  </a:lnTo>
                  <a:lnTo>
                    <a:pt x="46863" y="4504690"/>
                  </a:lnTo>
                  <a:lnTo>
                    <a:pt x="105664" y="4470273"/>
                  </a:lnTo>
                  <a:lnTo>
                    <a:pt x="106680" y="4466336"/>
                  </a:lnTo>
                  <a:lnTo>
                    <a:pt x="103124" y="4460240"/>
                  </a:lnTo>
                  <a:lnTo>
                    <a:pt x="99314" y="4459224"/>
                  </a:lnTo>
                  <a:lnTo>
                    <a:pt x="10668" y="4511040"/>
                  </a:lnTo>
                  <a:lnTo>
                    <a:pt x="99314" y="4562856"/>
                  </a:lnTo>
                  <a:lnTo>
                    <a:pt x="103124" y="4561713"/>
                  </a:lnTo>
                  <a:lnTo>
                    <a:pt x="106680" y="4555744"/>
                  </a:lnTo>
                  <a:lnTo>
                    <a:pt x="105664" y="4551807"/>
                  </a:lnTo>
                  <a:lnTo>
                    <a:pt x="46609" y="4517390"/>
                  </a:lnTo>
                  <a:lnTo>
                    <a:pt x="3556635" y="4517390"/>
                  </a:lnTo>
                  <a:lnTo>
                    <a:pt x="3556635" y="79248"/>
                  </a:lnTo>
                  <a:close/>
                </a:path>
                <a:path w="4384675" h="5363210">
                  <a:moveTo>
                    <a:pt x="4384421" y="68580"/>
                  </a:moveTo>
                  <a:lnTo>
                    <a:pt x="4371721" y="68580"/>
                  </a:lnTo>
                  <a:lnTo>
                    <a:pt x="4371721" y="5304637"/>
                  </a:lnTo>
                  <a:lnTo>
                    <a:pt x="46736" y="5304637"/>
                  </a:lnTo>
                  <a:lnTo>
                    <a:pt x="105664" y="5270233"/>
                  </a:lnTo>
                  <a:lnTo>
                    <a:pt x="106680" y="5266347"/>
                  </a:lnTo>
                  <a:lnTo>
                    <a:pt x="103124" y="5260289"/>
                  </a:lnTo>
                  <a:lnTo>
                    <a:pt x="99314" y="5259273"/>
                  </a:lnTo>
                  <a:lnTo>
                    <a:pt x="10668" y="5310987"/>
                  </a:lnTo>
                  <a:lnTo>
                    <a:pt x="99314" y="5362689"/>
                  </a:lnTo>
                  <a:lnTo>
                    <a:pt x="103124" y="5361660"/>
                  </a:lnTo>
                  <a:lnTo>
                    <a:pt x="106680" y="5355602"/>
                  </a:lnTo>
                  <a:lnTo>
                    <a:pt x="105664" y="5351716"/>
                  </a:lnTo>
                  <a:lnTo>
                    <a:pt x="46736" y="5317337"/>
                  </a:lnTo>
                  <a:lnTo>
                    <a:pt x="4384421" y="5317350"/>
                  </a:lnTo>
                  <a:lnTo>
                    <a:pt x="4384421" y="68580"/>
                  </a:lnTo>
                  <a:close/>
                </a:path>
              </a:pathLst>
            </a:custGeom>
            <a:solidFill>
              <a:srgbClr val="5B9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31949" y="6653403"/>
              <a:ext cx="8624570" cy="214629"/>
            </a:xfrm>
            <a:custGeom>
              <a:avLst/>
              <a:gdLst/>
              <a:ahLst/>
              <a:cxnLst/>
              <a:rect l="l" t="t" r="r" b="b"/>
              <a:pathLst>
                <a:path w="8624570" h="214629">
                  <a:moveTo>
                    <a:pt x="8624189" y="0"/>
                  </a:moveTo>
                  <a:lnTo>
                    <a:pt x="0" y="0"/>
                  </a:lnTo>
                  <a:lnTo>
                    <a:pt x="0" y="214274"/>
                  </a:lnTo>
                  <a:lnTo>
                    <a:pt x="8624189" y="214274"/>
                  </a:lnTo>
                  <a:lnTo>
                    <a:pt x="8624189" y="0"/>
                  </a:lnTo>
                  <a:close/>
                </a:path>
              </a:pathLst>
            </a:custGeom>
            <a:solidFill>
              <a:srgbClr val="9F5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759995"/>
              </p:ext>
            </p:extLst>
          </p:nvPr>
        </p:nvGraphicFramePr>
        <p:xfrm>
          <a:off x="7848600" y="679787"/>
          <a:ext cx="4218432" cy="5623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Department/Team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Dept short</a:t>
                      </a:r>
                      <a:r>
                        <a:rPr sz="1800" spc="-1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letter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lang="en-US" sz="1800" spc="-5" dirty="0">
                          <a:latin typeface="Arial"/>
                          <a:cs typeface="Arial"/>
                        </a:rPr>
                        <a:t>RF team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lang="en-US" sz="1800" spc="-20" dirty="0">
                          <a:latin typeface="Arial"/>
                          <a:cs typeface="Arial"/>
                        </a:rPr>
                        <a:t>RF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806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QA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QA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SMT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SM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806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Engineer</a:t>
                      </a:r>
                      <a:r>
                        <a:rPr lang="en-US" sz="1800" spc="-5" dirty="0">
                          <a:latin typeface="Arial"/>
                          <a:cs typeface="Arial"/>
                        </a:rPr>
                        <a:t> 1 (FAE,</a:t>
                      </a:r>
                      <a:r>
                        <a:rPr lang="vi-VN" sz="1800" spc="-5" dirty="0">
                          <a:latin typeface="Arial"/>
                          <a:cs typeface="Arial"/>
                        </a:rPr>
                        <a:t>IE,</a:t>
                      </a:r>
                      <a:r>
                        <a:rPr lang="en-US" sz="1800" spc="-5" dirty="0">
                          <a:latin typeface="Arial"/>
                          <a:cs typeface="Arial"/>
                        </a:rPr>
                        <a:t> REPAIR)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E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Engineer</a:t>
                      </a:r>
                      <a:r>
                        <a:rPr lang="en-US" sz="1800" spc="-5" dirty="0">
                          <a:latin typeface="Arial"/>
                          <a:cs typeface="Arial"/>
                        </a:rPr>
                        <a:t> 2 (MAE)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E</a:t>
                      </a:r>
                      <a:r>
                        <a:rPr lang="en-US" sz="1800" spc="-20" dirty="0">
                          <a:latin typeface="Arial"/>
                          <a:cs typeface="Arial"/>
                        </a:rPr>
                        <a:t>2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414420"/>
                  </a:ext>
                </a:extLst>
              </a:tr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GA</a:t>
                      </a: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GA</a:t>
                      </a: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806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en-US" sz="1800" spc="-35" dirty="0">
                          <a:latin typeface="Arial"/>
                          <a:cs typeface="Arial"/>
                        </a:rPr>
                        <a:t>FAC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en-US" sz="1800" spc="-35" dirty="0">
                          <a:latin typeface="Arial"/>
                          <a:cs typeface="Arial"/>
                        </a:rPr>
                        <a:t>FA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160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IT</a:t>
                      </a: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806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en-US" sz="1800" spc="-25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Arial"/>
                        </a:rPr>
                        <a:t>Antenna team</a:t>
                      </a:r>
                      <a:endParaRPr sz="1800" spc="-25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lang="en-US" sz="1800" spc="-30" dirty="0">
                          <a:latin typeface="Arial"/>
                          <a:cs typeface="Arial"/>
                        </a:rPr>
                        <a:t>AN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806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Warehouse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WH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806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Security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5576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sz="1800" spc="-35" dirty="0">
                          <a:latin typeface="Arial"/>
                          <a:cs typeface="Arial"/>
                        </a:rPr>
                        <a:t>OPM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n-US" sz="1800" spc="25" dirty="0">
                          <a:latin typeface="Arial"/>
                          <a:cs typeface="Arial"/>
                        </a:rPr>
                        <a:t>PM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806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30" dirty="0">
                          <a:latin typeface="Arial"/>
                          <a:cs typeface="Arial"/>
                        </a:rPr>
                        <a:t>Production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30" dirty="0">
                          <a:latin typeface="Arial"/>
                          <a:cs typeface="Arial"/>
                        </a:rPr>
                        <a:t>PR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01168" y="6097771"/>
            <a:ext cx="11305032" cy="866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"/>
                <a:cs typeface="Arial"/>
              </a:rPr>
              <a:t>Consecutive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number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 dirty="0">
              <a:latin typeface="Arial"/>
              <a:cs typeface="Arial"/>
            </a:endParaRPr>
          </a:p>
          <a:p>
            <a:pPr marL="205613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is compulsory that </a:t>
            </a:r>
            <a:r>
              <a:rPr sz="1800" spc="-25" dirty="0">
                <a:latin typeface="Arial"/>
                <a:cs typeface="Arial"/>
              </a:rPr>
              <a:t>requestor </a:t>
            </a:r>
            <a:r>
              <a:rPr sz="1800" dirty="0">
                <a:latin typeface="Arial"/>
                <a:cs typeface="Arial"/>
              </a:rPr>
              <a:t>must </a:t>
            </a:r>
            <a:r>
              <a:rPr sz="1800" spc="-5" dirty="0">
                <a:latin typeface="Arial"/>
                <a:cs typeface="Arial"/>
              </a:rPr>
              <a:t>issue </a:t>
            </a:r>
            <a:r>
              <a:rPr sz="1800" spc="5" dirty="0">
                <a:latin typeface="Arial"/>
                <a:cs typeface="Arial"/>
              </a:rPr>
              <a:t>FTV </a:t>
            </a:r>
            <a:r>
              <a:rPr sz="1800" spc="-15" dirty="0">
                <a:latin typeface="Arial"/>
                <a:cs typeface="Arial"/>
              </a:rPr>
              <a:t>code </a:t>
            </a:r>
            <a:r>
              <a:rPr sz="1800" spc="-1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all non-</a:t>
            </a:r>
            <a:r>
              <a:rPr lang="en-US" spc="-5" dirty="0">
                <a:latin typeface="Arial"/>
                <a:cs typeface="Arial"/>
              </a:rPr>
              <a:t>raw material </a:t>
            </a:r>
            <a:r>
              <a:rPr sz="1800" spc="-5" dirty="0">
                <a:latin typeface="Arial"/>
                <a:cs typeface="Arial"/>
              </a:rPr>
              <a:t>part</a:t>
            </a:r>
            <a:r>
              <a:rPr lang="en-US" sz="1800" spc="-5" dirty="0">
                <a:latin typeface="Arial"/>
                <a:cs typeface="Arial"/>
              </a:rPr>
              <a:t>s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356992" y="517398"/>
          <a:ext cx="4925694" cy="518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1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3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dirty="0">
                          <a:latin typeface="Arial"/>
                          <a:cs typeface="Arial"/>
                        </a:rPr>
                        <a:t>H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dirty="0">
                          <a:latin typeface="Arial"/>
                          <a:cs typeface="Arial"/>
                        </a:rPr>
                        <a:t>F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dirty="0">
                          <a:latin typeface="Arial"/>
                          <a:cs typeface="Arial"/>
                        </a:rPr>
                        <a:t>S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spc="-35" dirty="0">
                          <a:latin typeface="Arial"/>
                          <a:cs typeface="Arial"/>
                        </a:rPr>
                        <a:t>AB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dirty="0">
                          <a:latin typeface="Arial"/>
                          <a:cs typeface="Arial"/>
                        </a:rPr>
                        <a:t>-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800" b="1" spc="-15" dirty="0">
                          <a:latin typeface="Arial"/>
                          <a:cs typeface="Arial"/>
                        </a:rPr>
                        <a:t>1001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01168" y="1168908"/>
            <a:ext cx="2044064" cy="609600"/>
          </a:xfrm>
          <a:prstGeom prst="rect">
            <a:avLst/>
          </a:prstGeom>
          <a:solidFill>
            <a:srgbClr val="F4AE83"/>
          </a:solidFill>
        </p:spPr>
        <p:txBody>
          <a:bodyPr vert="horz" wrap="square" lIns="0" tIns="139700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100"/>
              </a:spcBef>
            </a:pPr>
            <a:r>
              <a:rPr sz="1800" spc="-5" dirty="0">
                <a:latin typeface="Arial"/>
                <a:cs typeface="Arial"/>
              </a:rPr>
              <a:t>H- </a:t>
            </a:r>
            <a:r>
              <a:rPr sz="1800" spc="-10" dirty="0">
                <a:latin typeface="Arial"/>
                <a:cs typeface="Arial"/>
              </a:rPr>
              <a:t>Hanoi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factory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168" y="1969007"/>
            <a:ext cx="2044064" cy="609600"/>
          </a:xfrm>
          <a:prstGeom prst="rect">
            <a:avLst/>
          </a:prstGeom>
          <a:solidFill>
            <a:srgbClr val="F4AE83"/>
          </a:solidFill>
        </p:spPr>
        <p:txBody>
          <a:bodyPr vert="horz" wrap="square" lIns="0" tIns="142240" rIns="0" bIns="0" rtlCol="0">
            <a:spAutoFit/>
          </a:bodyPr>
          <a:lstStyle/>
          <a:p>
            <a:pPr marL="600075">
              <a:lnSpc>
                <a:spcPct val="100000"/>
              </a:lnSpc>
              <a:spcBef>
                <a:spcPts val="1120"/>
              </a:spcBef>
            </a:pPr>
            <a:r>
              <a:rPr sz="1800" dirty="0">
                <a:latin typeface="Arial"/>
                <a:cs typeface="Arial"/>
              </a:rPr>
              <a:t>F-Fushan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168" y="2770632"/>
            <a:ext cx="2044064" cy="1363980"/>
          </a:xfrm>
          <a:prstGeom prst="rect">
            <a:avLst/>
          </a:prstGeom>
          <a:solidFill>
            <a:srgbClr val="F4AE8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960"/>
              </a:lnSpc>
            </a:pPr>
            <a:r>
              <a:rPr sz="1800" b="1" spc="-5" dirty="0">
                <a:latin typeface="Arial"/>
                <a:cs typeface="Arial"/>
              </a:rPr>
              <a:t>S</a:t>
            </a:r>
            <a:r>
              <a:rPr sz="1800" spc="-5" dirty="0">
                <a:latin typeface="Arial"/>
                <a:cs typeface="Arial"/>
              </a:rPr>
              <a:t>: </a:t>
            </a:r>
            <a:r>
              <a:rPr sz="1800" spc="-15" dirty="0">
                <a:latin typeface="Arial"/>
                <a:cs typeface="Arial"/>
              </a:rPr>
              <a:t>Spare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parts</a:t>
            </a:r>
            <a:endParaRPr sz="1800">
              <a:latin typeface="Arial"/>
              <a:cs typeface="Arial"/>
            </a:endParaRPr>
          </a:p>
          <a:p>
            <a:pPr marL="200025" marR="170815" algn="ctr">
              <a:lnSpc>
                <a:spcPct val="100000"/>
              </a:lnSpc>
            </a:pPr>
            <a:r>
              <a:rPr sz="1800" b="1" spc="-40" dirty="0">
                <a:latin typeface="Arial"/>
                <a:cs typeface="Arial"/>
              </a:rPr>
              <a:t>J</a:t>
            </a:r>
            <a:r>
              <a:rPr sz="1800" spc="-40" dirty="0">
                <a:latin typeface="Arial"/>
                <a:cs typeface="Arial"/>
              </a:rPr>
              <a:t>:Jig/Tools/Fixtur  </a:t>
            </a:r>
            <a:r>
              <a:rPr sz="1800" spc="-5" dirty="0">
                <a:latin typeface="Arial"/>
                <a:cs typeface="Arial"/>
              </a:rPr>
              <a:t>e/</a:t>
            </a:r>
            <a:r>
              <a:rPr sz="1800" spc="4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Machine</a:t>
            </a:r>
            <a:endParaRPr sz="1800">
              <a:latin typeface="Arial"/>
              <a:cs typeface="Arial"/>
            </a:endParaRPr>
          </a:p>
          <a:p>
            <a:pPr marL="248920" marR="229870" algn="ctr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</a:t>
            </a:r>
            <a:r>
              <a:rPr sz="1800" spc="-5" dirty="0">
                <a:latin typeface="Arial"/>
                <a:cs typeface="Arial"/>
              </a:rPr>
              <a:t>:</a:t>
            </a:r>
            <a:r>
              <a:rPr sz="1800" spc="-19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Consumable  parts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168" y="4335779"/>
            <a:ext cx="2044064" cy="609600"/>
          </a:xfrm>
          <a:prstGeom prst="rect">
            <a:avLst/>
          </a:prstGeom>
          <a:solidFill>
            <a:srgbClr val="F4AE83"/>
          </a:solidFill>
        </p:spPr>
        <p:txBody>
          <a:bodyPr vert="horz" wrap="square" lIns="0" tIns="142875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1125"/>
              </a:spcBef>
            </a:pPr>
            <a:r>
              <a:rPr sz="1800" spc="-5" dirty="0">
                <a:latin typeface="Arial"/>
                <a:cs typeface="Arial"/>
              </a:rPr>
              <a:t>Department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168" y="5146547"/>
            <a:ext cx="2043430" cy="609600"/>
          </a:xfrm>
          <a:prstGeom prst="rect">
            <a:avLst/>
          </a:prstGeom>
          <a:solidFill>
            <a:srgbClr val="F4AE83"/>
          </a:solidFill>
        </p:spPr>
        <p:txBody>
          <a:bodyPr vert="horz" wrap="square" lIns="0" tIns="62865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495"/>
              </a:spcBef>
            </a:pPr>
            <a:r>
              <a:rPr sz="1800" spc="-20" dirty="0">
                <a:latin typeface="Arial"/>
                <a:cs typeface="Arial"/>
              </a:rPr>
              <a:t>Symbol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  <a:p>
            <a:pPr marL="130810">
              <a:lnSpc>
                <a:spcPts val="2145"/>
              </a:lnSpc>
            </a:pPr>
            <a:r>
              <a:rPr sz="1800" spc="-30" dirty="0">
                <a:latin typeface="Arial"/>
                <a:cs typeface="Arial"/>
              </a:rPr>
              <a:t>separate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1168" y="940307"/>
            <a:ext cx="10055351" cy="5927725"/>
            <a:chOff x="201168" y="940307"/>
            <a:chExt cx="10055351" cy="5927725"/>
          </a:xfrm>
        </p:grpSpPr>
        <p:sp>
          <p:nvSpPr>
            <p:cNvPr id="10" name="object 10"/>
            <p:cNvSpPr/>
            <p:nvPr/>
          </p:nvSpPr>
          <p:spPr>
            <a:xfrm>
              <a:off x="201168" y="5946647"/>
              <a:ext cx="2043430" cy="609600"/>
            </a:xfrm>
            <a:custGeom>
              <a:avLst/>
              <a:gdLst/>
              <a:ahLst/>
              <a:cxnLst/>
              <a:rect l="l" t="t" r="r" b="b"/>
              <a:pathLst>
                <a:path w="2043430" h="609600">
                  <a:moveTo>
                    <a:pt x="2043303" y="0"/>
                  </a:moveTo>
                  <a:lnTo>
                    <a:pt x="0" y="0"/>
                  </a:lnTo>
                  <a:lnTo>
                    <a:pt x="0" y="601980"/>
                  </a:lnTo>
                  <a:lnTo>
                    <a:pt x="0" y="609600"/>
                  </a:lnTo>
                  <a:lnTo>
                    <a:pt x="2043303" y="609600"/>
                  </a:lnTo>
                  <a:lnTo>
                    <a:pt x="2043303" y="601980"/>
                  </a:lnTo>
                  <a:lnTo>
                    <a:pt x="2043303" y="0"/>
                  </a:lnTo>
                  <a:close/>
                </a:path>
              </a:pathLst>
            </a:custGeom>
            <a:solidFill>
              <a:srgbClr val="F4AE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34184" y="940307"/>
              <a:ext cx="4384675" cy="5363210"/>
            </a:xfrm>
            <a:custGeom>
              <a:avLst/>
              <a:gdLst/>
              <a:ahLst/>
              <a:cxnLst/>
              <a:rect l="l" t="t" r="r" b="b"/>
              <a:pathLst>
                <a:path w="4384675" h="5363210">
                  <a:moveTo>
                    <a:pt x="508889" y="62230"/>
                  </a:moveTo>
                  <a:lnTo>
                    <a:pt x="495554" y="62230"/>
                  </a:lnTo>
                  <a:lnTo>
                    <a:pt x="495554" y="74930"/>
                  </a:lnTo>
                  <a:lnTo>
                    <a:pt x="496189" y="74930"/>
                  </a:lnTo>
                  <a:lnTo>
                    <a:pt x="496189" y="526542"/>
                  </a:lnTo>
                  <a:lnTo>
                    <a:pt x="46609" y="526542"/>
                  </a:lnTo>
                  <a:lnTo>
                    <a:pt x="105664" y="492125"/>
                  </a:lnTo>
                  <a:lnTo>
                    <a:pt x="106680" y="488315"/>
                  </a:lnTo>
                  <a:lnTo>
                    <a:pt x="103124" y="482219"/>
                  </a:lnTo>
                  <a:lnTo>
                    <a:pt x="99314" y="481203"/>
                  </a:lnTo>
                  <a:lnTo>
                    <a:pt x="10668" y="532892"/>
                  </a:lnTo>
                  <a:lnTo>
                    <a:pt x="99314" y="584581"/>
                  </a:lnTo>
                  <a:lnTo>
                    <a:pt x="103124" y="583565"/>
                  </a:lnTo>
                  <a:lnTo>
                    <a:pt x="106680" y="577469"/>
                  </a:lnTo>
                  <a:lnTo>
                    <a:pt x="105664" y="573659"/>
                  </a:lnTo>
                  <a:lnTo>
                    <a:pt x="46609" y="539242"/>
                  </a:lnTo>
                  <a:lnTo>
                    <a:pt x="508889" y="539242"/>
                  </a:lnTo>
                  <a:lnTo>
                    <a:pt x="508889" y="62230"/>
                  </a:lnTo>
                  <a:close/>
                </a:path>
                <a:path w="4384675" h="5363210">
                  <a:moveTo>
                    <a:pt x="1326896" y="72898"/>
                  </a:moveTo>
                  <a:lnTo>
                    <a:pt x="1313561" y="72898"/>
                  </a:lnTo>
                  <a:lnTo>
                    <a:pt x="1313561" y="1306449"/>
                  </a:lnTo>
                  <a:lnTo>
                    <a:pt x="46609" y="1306449"/>
                  </a:lnTo>
                  <a:lnTo>
                    <a:pt x="105664" y="1272032"/>
                  </a:lnTo>
                  <a:lnTo>
                    <a:pt x="106680" y="1268222"/>
                  </a:lnTo>
                  <a:lnTo>
                    <a:pt x="103124" y="1262126"/>
                  </a:lnTo>
                  <a:lnTo>
                    <a:pt x="99314" y="1261110"/>
                  </a:lnTo>
                  <a:lnTo>
                    <a:pt x="10668" y="1312799"/>
                  </a:lnTo>
                  <a:lnTo>
                    <a:pt x="99314" y="1364361"/>
                  </a:lnTo>
                  <a:lnTo>
                    <a:pt x="103124" y="1363345"/>
                  </a:lnTo>
                  <a:lnTo>
                    <a:pt x="106680" y="1357249"/>
                  </a:lnTo>
                  <a:lnTo>
                    <a:pt x="105664" y="1353439"/>
                  </a:lnTo>
                  <a:lnTo>
                    <a:pt x="46609" y="1319149"/>
                  </a:lnTo>
                  <a:lnTo>
                    <a:pt x="1326261" y="1319149"/>
                  </a:lnTo>
                  <a:lnTo>
                    <a:pt x="1326261" y="85598"/>
                  </a:lnTo>
                  <a:lnTo>
                    <a:pt x="1326896" y="85598"/>
                  </a:lnTo>
                  <a:lnTo>
                    <a:pt x="1326896" y="72898"/>
                  </a:lnTo>
                  <a:close/>
                </a:path>
                <a:path w="4384675" h="5363210">
                  <a:moveTo>
                    <a:pt x="2163318" y="60960"/>
                  </a:moveTo>
                  <a:lnTo>
                    <a:pt x="2150618" y="60960"/>
                  </a:lnTo>
                  <a:lnTo>
                    <a:pt x="2150618" y="2506091"/>
                  </a:lnTo>
                  <a:lnTo>
                    <a:pt x="46609" y="2506091"/>
                  </a:lnTo>
                  <a:lnTo>
                    <a:pt x="105664" y="2471674"/>
                  </a:lnTo>
                  <a:lnTo>
                    <a:pt x="106680" y="2467737"/>
                  </a:lnTo>
                  <a:lnTo>
                    <a:pt x="103124" y="2461768"/>
                  </a:lnTo>
                  <a:lnTo>
                    <a:pt x="99314" y="2460625"/>
                  </a:lnTo>
                  <a:lnTo>
                    <a:pt x="10668" y="2512441"/>
                  </a:lnTo>
                  <a:lnTo>
                    <a:pt x="99314" y="2564130"/>
                  </a:lnTo>
                  <a:lnTo>
                    <a:pt x="103124" y="2563114"/>
                  </a:lnTo>
                  <a:lnTo>
                    <a:pt x="106680" y="2557018"/>
                  </a:lnTo>
                  <a:lnTo>
                    <a:pt x="105664" y="2553081"/>
                  </a:lnTo>
                  <a:lnTo>
                    <a:pt x="46863" y="2518791"/>
                  </a:lnTo>
                  <a:lnTo>
                    <a:pt x="2163318" y="2518791"/>
                  </a:lnTo>
                  <a:lnTo>
                    <a:pt x="2163318" y="60960"/>
                  </a:lnTo>
                  <a:close/>
                </a:path>
                <a:path w="4384675" h="5363210">
                  <a:moveTo>
                    <a:pt x="3040253" y="0"/>
                  </a:moveTo>
                  <a:lnTo>
                    <a:pt x="3027553" y="0"/>
                  </a:lnTo>
                  <a:lnTo>
                    <a:pt x="3027553" y="3680968"/>
                  </a:lnTo>
                  <a:lnTo>
                    <a:pt x="30480" y="3680968"/>
                  </a:lnTo>
                  <a:lnTo>
                    <a:pt x="87884" y="3634740"/>
                  </a:lnTo>
                  <a:lnTo>
                    <a:pt x="88392" y="3630803"/>
                  </a:lnTo>
                  <a:lnTo>
                    <a:pt x="83947" y="3625342"/>
                  </a:lnTo>
                  <a:lnTo>
                    <a:pt x="80010" y="3624834"/>
                  </a:lnTo>
                  <a:lnTo>
                    <a:pt x="0" y="3689096"/>
                  </a:lnTo>
                  <a:lnTo>
                    <a:pt x="95250" y="3727196"/>
                  </a:lnTo>
                  <a:lnTo>
                    <a:pt x="98933" y="3725545"/>
                  </a:lnTo>
                  <a:lnTo>
                    <a:pt x="101600" y="3719068"/>
                  </a:lnTo>
                  <a:lnTo>
                    <a:pt x="99949" y="3715385"/>
                  </a:lnTo>
                  <a:lnTo>
                    <a:pt x="45593" y="3693668"/>
                  </a:lnTo>
                  <a:lnTo>
                    <a:pt x="3040253" y="3693668"/>
                  </a:lnTo>
                  <a:lnTo>
                    <a:pt x="3040253" y="0"/>
                  </a:lnTo>
                  <a:close/>
                </a:path>
                <a:path w="4384675" h="5363210">
                  <a:moveTo>
                    <a:pt x="3556635" y="79248"/>
                  </a:moveTo>
                  <a:lnTo>
                    <a:pt x="3543935" y="79248"/>
                  </a:lnTo>
                  <a:lnTo>
                    <a:pt x="3543935" y="4504690"/>
                  </a:lnTo>
                  <a:lnTo>
                    <a:pt x="46863" y="4504690"/>
                  </a:lnTo>
                  <a:lnTo>
                    <a:pt x="105664" y="4470273"/>
                  </a:lnTo>
                  <a:lnTo>
                    <a:pt x="106680" y="4466336"/>
                  </a:lnTo>
                  <a:lnTo>
                    <a:pt x="103124" y="4460240"/>
                  </a:lnTo>
                  <a:lnTo>
                    <a:pt x="99314" y="4459224"/>
                  </a:lnTo>
                  <a:lnTo>
                    <a:pt x="10668" y="4511040"/>
                  </a:lnTo>
                  <a:lnTo>
                    <a:pt x="99314" y="4562856"/>
                  </a:lnTo>
                  <a:lnTo>
                    <a:pt x="103124" y="4561713"/>
                  </a:lnTo>
                  <a:lnTo>
                    <a:pt x="106680" y="4555744"/>
                  </a:lnTo>
                  <a:lnTo>
                    <a:pt x="105664" y="4551807"/>
                  </a:lnTo>
                  <a:lnTo>
                    <a:pt x="46609" y="4517390"/>
                  </a:lnTo>
                  <a:lnTo>
                    <a:pt x="3556635" y="4517390"/>
                  </a:lnTo>
                  <a:lnTo>
                    <a:pt x="3556635" y="79248"/>
                  </a:lnTo>
                  <a:close/>
                </a:path>
                <a:path w="4384675" h="5363210">
                  <a:moveTo>
                    <a:pt x="4384421" y="68580"/>
                  </a:moveTo>
                  <a:lnTo>
                    <a:pt x="4371721" y="68580"/>
                  </a:lnTo>
                  <a:lnTo>
                    <a:pt x="4371721" y="5304637"/>
                  </a:lnTo>
                  <a:lnTo>
                    <a:pt x="46736" y="5304637"/>
                  </a:lnTo>
                  <a:lnTo>
                    <a:pt x="105664" y="5270233"/>
                  </a:lnTo>
                  <a:lnTo>
                    <a:pt x="106680" y="5266347"/>
                  </a:lnTo>
                  <a:lnTo>
                    <a:pt x="103124" y="5260289"/>
                  </a:lnTo>
                  <a:lnTo>
                    <a:pt x="99314" y="5259273"/>
                  </a:lnTo>
                  <a:lnTo>
                    <a:pt x="10668" y="5310987"/>
                  </a:lnTo>
                  <a:lnTo>
                    <a:pt x="99314" y="5362689"/>
                  </a:lnTo>
                  <a:lnTo>
                    <a:pt x="103124" y="5361660"/>
                  </a:lnTo>
                  <a:lnTo>
                    <a:pt x="106680" y="5355602"/>
                  </a:lnTo>
                  <a:lnTo>
                    <a:pt x="105664" y="5351716"/>
                  </a:lnTo>
                  <a:lnTo>
                    <a:pt x="46736" y="5317337"/>
                  </a:lnTo>
                  <a:lnTo>
                    <a:pt x="4384421" y="5317350"/>
                  </a:lnTo>
                  <a:lnTo>
                    <a:pt x="4384421" y="68580"/>
                  </a:lnTo>
                  <a:close/>
                </a:path>
              </a:pathLst>
            </a:custGeom>
            <a:solidFill>
              <a:srgbClr val="5B9B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31949" y="6653403"/>
              <a:ext cx="8624570" cy="214629"/>
            </a:xfrm>
            <a:custGeom>
              <a:avLst/>
              <a:gdLst/>
              <a:ahLst/>
              <a:cxnLst/>
              <a:rect l="l" t="t" r="r" b="b"/>
              <a:pathLst>
                <a:path w="8624570" h="214629">
                  <a:moveTo>
                    <a:pt x="8624189" y="0"/>
                  </a:moveTo>
                  <a:lnTo>
                    <a:pt x="0" y="0"/>
                  </a:lnTo>
                  <a:lnTo>
                    <a:pt x="0" y="214274"/>
                  </a:lnTo>
                  <a:lnTo>
                    <a:pt x="8624189" y="214274"/>
                  </a:lnTo>
                  <a:lnTo>
                    <a:pt x="8624189" y="0"/>
                  </a:lnTo>
                  <a:close/>
                </a:path>
              </a:pathLst>
            </a:custGeom>
            <a:solidFill>
              <a:srgbClr val="9F5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874520"/>
              </p:ext>
            </p:extLst>
          </p:nvPr>
        </p:nvGraphicFramePr>
        <p:xfrm>
          <a:off x="7772400" y="19639"/>
          <a:ext cx="4218432" cy="241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Department/Team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Dept short</a:t>
                      </a:r>
                      <a:r>
                        <a:rPr sz="1800" spc="-1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letter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Non G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EG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417205"/>
                  </a:ext>
                </a:extLst>
              </a:tr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REL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RE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35229"/>
                  </a:ext>
                </a:extLst>
              </a:tr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TPM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lang="en-US" sz="1800" dirty="0">
                          <a:latin typeface="Arial"/>
                          <a:cs typeface="Arial"/>
                        </a:rPr>
                        <a:t>TP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760401"/>
                  </a:ext>
                </a:extLst>
              </a:tr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T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EST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800" spc="25" dirty="0">
                          <a:latin typeface="Arial"/>
                          <a:cs typeface="Arial"/>
                        </a:rPr>
                        <a:t>T</a:t>
                      </a:r>
                      <a:r>
                        <a:rPr lang="en-US" sz="1800" spc="25" dirty="0">
                          <a:latin typeface="Arial"/>
                          <a:cs typeface="Arial"/>
                        </a:rPr>
                        <a:t>E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223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616578"/>
                  </a:ext>
                </a:extLst>
              </a:tr>
              <a:tr h="360807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lang="vi-VN" sz="1800" spc="-5" dirty="0">
                          <a:latin typeface="Arial"/>
                          <a:cs typeface="Arial"/>
                        </a:rPr>
                        <a:t>ENG 3 (Packing)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marL="127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lang="vi-VN" sz="1800" spc="-20" dirty="0">
                          <a:latin typeface="Arial"/>
                          <a:cs typeface="Arial"/>
                        </a:rPr>
                        <a:t>E3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6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01168" y="6097771"/>
            <a:ext cx="11305032" cy="866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Arial"/>
                <a:cs typeface="Arial"/>
              </a:rPr>
              <a:t>Consecutive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number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 dirty="0">
              <a:latin typeface="Arial"/>
              <a:cs typeface="Arial"/>
            </a:endParaRPr>
          </a:p>
          <a:p>
            <a:pPr marL="205613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is compulsory that </a:t>
            </a:r>
            <a:r>
              <a:rPr sz="1800" spc="-25" dirty="0">
                <a:latin typeface="Arial"/>
                <a:cs typeface="Arial"/>
              </a:rPr>
              <a:t>requestor </a:t>
            </a:r>
            <a:r>
              <a:rPr sz="1800" dirty="0">
                <a:latin typeface="Arial"/>
                <a:cs typeface="Arial"/>
              </a:rPr>
              <a:t>must </a:t>
            </a:r>
            <a:r>
              <a:rPr sz="1800" spc="-5" dirty="0">
                <a:latin typeface="Arial"/>
                <a:cs typeface="Arial"/>
              </a:rPr>
              <a:t>issue </a:t>
            </a:r>
            <a:r>
              <a:rPr sz="1800" spc="5" dirty="0">
                <a:latin typeface="Arial"/>
                <a:cs typeface="Arial"/>
              </a:rPr>
              <a:t>FTV </a:t>
            </a:r>
            <a:r>
              <a:rPr sz="1800" spc="-15" dirty="0">
                <a:latin typeface="Arial"/>
                <a:cs typeface="Arial"/>
              </a:rPr>
              <a:t>code </a:t>
            </a:r>
            <a:r>
              <a:rPr sz="1800" spc="-1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all non-</a:t>
            </a:r>
            <a:r>
              <a:rPr lang="en-US" spc="-5" dirty="0">
                <a:latin typeface="Arial"/>
                <a:cs typeface="Arial"/>
              </a:rPr>
              <a:t>raw material </a:t>
            </a:r>
            <a:r>
              <a:rPr sz="1800" spc="-5" dirty="0">
                <a:latin typeface="Arial"/>
                <a:cs typeface="Arial"/>
              </a:rPr>
              <a:t>part</a:t>
            </a:r>
            <a:r>
              <a:rPr lang="en-US" sz="1800" spc="-5" dirty="0">
                <a:latin typeface="Arial"/>
                <a:cs typeface="Arial"/>
              </a:rPr>
              <a:t>s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512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1084" y="627887"/>
            <a:ext cx="2035810" cy="618490"/>
          </a:xfrm>
          <a:custGeom>
            <a:avLst/>
            <a:gdLst/>
            <a:ahLst/>
            <a:cxnLst/>
            <a:rect l="l" t="t" r="r" b="b"/>
            <a:pathLst>
              <a:path w="2035810" h="618490">
                <a:moveTo>
                  <a:pt x="2035682" y="0"/>
                </a:moveTo>
                <a:lnTo>
                  <a:pt x="0" y="0"/>
                </a:lnTo>
                <a:lnTo>
                  <a:pt x="0" y="618363"/>
                </a:lnTo>
                <a:lnTo>
                  <a:pt x="2035682" y="618363"/>
                </a:lnTo>
                <a:lnTo>
                  <a:pt x="2035682" y="0"/>
                </a:lnTo>
                <a:close/>
              </a:path>
            </a:pathLst>
          </a:custGeom>
          <a:solidFill>
            <a:srgbClr val="9DC3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9519" y="523748"/>
            <a:ext cx="15703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4" dirty="0">
                <a:solidFill>
                  <a:srgbClr val="FF0000"/>
                </a:solidFill>
              </a:rPr>
              <a:t>N</a:t>
            </a:r>
            <a:r>
              <a:rPr sz="4000" spc="-229" dirty="0">
                <a:solidFill>
                  <a:srgbClr val="FF0000"/>
                </a:solidFill>
              </a:rPr>
              <a:t>OT</a:t>
            </a:r>
            <a:r>
              <a:rPr sz="4000" spc="-210" dirty="0">
                <a:solidFill>
                  <a:srgbClr val="FF0000"/>
                </a:solidFill>
              </a:rPr>
              <a:t>I</a:t>
            </a:r>
            <a:r>
              <a:rPr sz="4000" spc="-215" dirty="0">
                <a:solidFill>
                  <a:srgbClr val="FF0000"/>
                </a:solidFill>
              </a:rPr>
              <a:t>C</a:t>
            </a:r>
            <a:r>
              <a:rPr sz="4000" spc="-5" dirty="0">
                <a:solidFill>
                  <a:srgbClr val="FF0000"/>
                </a:solidFill>
              </a:rPr>
              <a:t>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369214" y="1844167"/>
            <a:ext cx="10157460" cy="3884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445770" indent="-228600">
              <a:lnSpc>
                <a:spcPct val="10000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800" spc="-15" dirty="0">
                <a:latin typeface="Arial"/>
                <a:cs typeface="Arial"/>
              </a:rPr>
              <a:t>Each </a:t>
            </a:r>
            <a:r>
              <a:rPr sz="2800" spc="-10" dirty="0">
                <a:latin typeface="Arial"/>
                <a:cs typeface="Arial"/>
              </a:rPr>
              <a:t>Dept must </a:t>
            </a:r>
            <a:r>
              <a:rPr sz="2800" spc="-20" dirty="0">
                <a:latin typeface="Arial"/>
                <a:cs typeface="Arial"/>
              </a:rPr>
              <a:t>keep </a:t>
            </a:r>
            <a:r>
              <a:rPr sz="2800" spc="-10" dirty="0">
                <a:latin typeface="Arial"/>
                <a:cs typeface="Arial"/>
              </a:rPr>
              <a:t>your </a:t>
            </a:r>
            <a:r>
              <a:rPr sz="2800" spc="-15" dirty="0">
                <a:latin typeface="Arial"/>
                <a:cs typeface="Arial"/>
              </a:rPr>
              <a:t>FTV </a:t>
            </a:r>
            <a:r>
              <a:rPr sz="2800" spc="-10" dirty="0">
                <a:latin typeface="Arial"/>
                <a:cs typeface="Arial"/>
              </a:rPr>
              <a:t>code list </a:t>
            </a:r>
            <a:r>
              <a:rPr sz="2800" spc="-5" dirty="0">
                <a:latin typeface="Arial"/>
                <a:cs typeface="Arial"/>
              </a:rPr>
              <a:t>and use it once</a:t>
            </a:r>
            <a:r>
              <a:rPr sz="2800" spc="-2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you  </a:t>
            </a:r>
            <a:r>
              <a:rPr sz="2800" spc="-5" dirty="0">
                <a:latin typeface="Arial"/>
                <a:cs typeface="Arial"/>
              </a:rPr>
              <a:t>issue</a:t>
            </a:r>
            <a:r>
              <a:rPr sz="2800" spc="30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PR.</a:t>
            </a:r>
            <a:endParaRPr sz="28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har char="•"/>
              <a:tabLst>
                <a:tab pos="241300" algn="l"/>
              </a:tabLst>
            </a:pPr>
            <a:r>
              <a:rPr sz="2800" spc="-25" dirty="0">
                <a:latin typeface="Arial"/>
                <a:cs typeface="Arial"/>
              </a:rPr>
              <a:t>Register </a:t>
            </a:r>
            <a:r>
              <a:rPr sz="2800" spc="-10" dirty="0">
                <a:latin typeface="Arial"/>
                <a:cs typeface="Arial"/>
              </a:rPr>
              <a:t>new </a:t>
            </a:r>
            <a:r>
              <a:rPr sz="2800" spc="-15" dirty="0">
                <a:latin typeface="Arial"/>
                <a:cs typeface="Arial"/>
              </a:rPr>
              <a:t>FTV </a:t>
            </a:r>
            <a:r>
              <a:rPr sz="2800" dirty="0">
                <a:latin typeface="Arial"/>
                <a:cs typeface="Arial"/>
              </a:rPr>
              <a:t>code </a:t>
            </a:r>
            <a:r>
              <a:rPr sz="2800" spc="-5" dirty="0">
                <a:latin typeface="Arial"/>
                <a:cs typeface="Arial"/>
              </a:rPr>
              <a:t>if </a:t>
            </a:r>
            <a:r>
              <a:rPr sz="2800" spc="-10" dirty="0">
                <a:latin typeface="Arial"/>
                <a:cs typeface="Arial"/>
              </a:rPr>
              <a:t>there </a:t>
            </a:r>
            <a:r>
              <a:rPr sz="2800" spc="-5" dirty="0">
                <a:latin typeface="Arial"/>
                <a:cs typeface="Arial"/>
              </a:rPr>
              <a:t>is </a:t>
            </a:r>
            <a:r>
              <a:rPr sz="2800" spc="-10" dirty="0">
                <a:latin typeface="Arial"/>
                <a:cs typeface="Arial"/>
              </a:rPr>
              <a:t>new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part.</a:t>
            </a:r>
            <a:endParaRPr sz="28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Char char="•"/>
              <a:tabLst>
                <a:tab pos="241300" algn="l"/>
              </a:tabLst>
            </a:pPr>
            <a:r>
              <a:rPr sz="2800" spc="-10" dirty="0">
                <a:latin typeface="Arial"/>
                <a:cs typeface="Arial"/>
              </a:rPr>
              <a:t>Put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spc="-25" dirty="0">
                <a:latin typeface="Arial"/>
                <a:cs typeface="Arial"/>
              </a:rPr>
              <a:t>FTV </a:t>
            </a:r>
            <a:r>
              <a:rPr sz="2800" spc="-10" dirty="0">
                <a:latin typeface="Arial"/>
                <a:cs typeface="Arial"/>
              </a:rPr>
              <a:t>code </a:t>
            </a:r>
            <a:r>
              <a:rPr sz="2800" spc="-5" dirty="0">
                <a:latin typeface="Arial"/>
                <a:cs typeface="Arial"/>
              </a:rPr>
              <a:t>in PO </a:t>
            </a:r>
            <a:r>
              <a:rPr sz="2800" spc="-10" dirty="0">
                <a:latin typeface="Arial"/>
                <a:cs typeface="Arial"/>
              </a:rPr>
              <a:t>sheet </a:t>
            </a: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10" dirty="0">
                <a:latin typeface="Arial"/>
                <a:cs typeface="Arial"/>
              </a:rPr>
              <a:t>Description</a:t>
            </a:r>
            <a:r>
              <a:rPr sz="2800" spc="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column.</a:t>
            </a:r>
            <a:endParaRPr sz="28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"/>
                <a:cs typeface="Arial"/>
              </a:rPr>
              <a:t>No </a:t>
            </a:r>
            <a:r>
              <a:rPr sz="2800" spc="-15" dirty="0">
                <a:latin typeface="Arial"/>
                <a:cs typeface="Arial"/>
              </a:rPr>
              <a:t>FTV </a:t>
            </a:r>
            <a:r>
              <a:rPr sz="2800" spc="-10" dirty="0">
                <a:latin typeface="Arial"/>
                <a:cs typeface="Arial"/>
              </a:rPr>
              <a:t>code, </a:t>
            </a:r>
            <a:r>
              <a:rPr sz="2800" spc="-75" dirty="0">
                <a:latin typeface="Arial"/>
                <a:cs typeface="Arial"/>
              </a:rPr>
              <a:t>Trade </a:t>
            </a:r>
            <a:r>
              <a:rPr sz="2800" spc="-10" dirty="0">
                <a:latin typeface="Arial"/>
                <a:cs typeface="Arial"/>
              </a:rPr>
              <a:t>team </a:t>
            </a:r>
            <a:r>
              <a:rPr sz="2800" spc="-5" dirty="0">
                <a:latin typeface="Arial"/>
                <a:cs typeface="Arial"/>
              </a:rPr>
              <a:t>will </a:t>
            </a:r>
            <a:r>
              <a:rPr sz="2800" spc="-10" dirty="0">
                <a:latin typeface="Arial"/>
                <a:cs typeface="Arial"/>
              </a:rPr>
              <a:t>not </a:t>
            </a:r>
            <a:r>
              <a:rPr lang="en-US" sz="2800" spc="-20" dirty="0">
                <a:latin typeface="Arial"/>
                <a:cs typeface="Arial"/>
              </a:rPr>
              <a:t>process</a:t>
            </a:r>
            <a:r>
              <a:rPr sz="2800" spc="-18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CDS.</a:t>
            </a:r>
            <a:endParaRPr sz="2800" dirty="0">
              <a:latin typeface="Arial"/>
              <a:cs typeface="Arial"/>
            </a:endParaRPr>
          </a:p>
          <a:p>
            <a:pPr marL="241300" marR="5080" indent="-228600">
              <a:lnSpc>
                <a:spcPct val="100000"/>
              </a:lnSpc>
              <a:spcBef>
                <a:spcPts val="70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"/>
                <a:cs typeface="Arial"/>
              </a:rPr>
              <a:t>If </a:t>
            </a:r>
            <a:r>
              <a:rPr sz="2800" spc="-10" dirty="0">
                <a:latin typeface="Arial"/>
                <a:cs typeface="Arial"/>
              </a:rPr>
              <a:t>one item </a:t>
            </a:r>
            <a:r>
              <a:rPr sz="2800" spc="-5" dirty="0">
                <a:latin typeface="Arial"/>
                <a:cs typeface="Arial"/>
              </a:rPr>
              <a:t>is </a:t>
            </a:r>
            <a:r>
              <a:rPr sz="2800" spc="-20" dirty="0">
                <a:latin typeface="Arial"/>
                <a:cs typeface="Arial"/>
              </a:rPr>
              <a:t>registered </a:t>
            </a:r>
            <a:r>
              <a:rPr sz="2800" spc="-25" dirty="0">
                <a:latin typeface="Arial"/>
                <a:cs typeface="Arial"/>
              </a:rPr>
              <a:t>FTV </a:t>
            </a:r>
            <a:r>
              <a:rPr sz="2800" spc="-10" dirty="0">
                <a:latin typeface="Arial"/>
                <a:cs typeface="Arial"/>
              </a:rPr>
              <a:t>code, that code </a:t>
            </a:r>
            <a:r>
              <a:rPr sz="2800" spc="-5" dirty="0">
                <a:latin typeface="Arial"/>
                <a:cs typeface="Arial"/>
              </a:rPr>
              <a:t>will be </a:t>
            </a:r>
            <a:r>
              <a:rPr sz="2800" spc="-10" dirty="0">
                <a:latin typeface="Arial"/>
                <a:cs typeface="Arial"/>
              </a:rPr>
              <a:t>used until </a:t>
            </a:r>
            <a:r>
              <a:rPr sz="2800" spc="-5" dirty="0">
                <a:latin typeface="Arial"/>
                <a:cs typeface="Arial"/>
              </a:rPr>
              <a:t>it  </a:t>
            </a:r>
            <a:r>
              <a:rPr sz="2800" spc="-10" dirty="0">
                <a:latin typeface="Arial"/>
                <a:cs typeface="Arial"/>
              </a:rPr>
              <a:t>is</a:t>
            </a:r>
            <a:r>
              <a:rPr sz="2800" spc="1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EOL.</a:t>
            </a:r>
            <a:endParaRPr sz="280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Char char="•"/>
              <a:tabLst>
                <a:tab pos="241300" algn="l"/>
              </a:tabLst>
            </a:pPr>
            <a:r>
              <a:rPr sz="2800" spc="-10" dirty="0">
                <a:latin typeface="Arial"/>
                <a:cs typeface="Arial"/>
              </a:rPr>
              <a:t>One item only can </a:t>
            </a:r>
            <a:r>
              <a:rPr sz="2800" spc="-5" dirty="0">
                <a:latin typeface="Arial"/>
                <a:cs typeface="Arial"/>
              </a:rPr>
              <a:t>be </a:t>
            </a:r>
            <a:r>
              <a:rPr sz="2800" spc="-20" dirty="0">
                <a:latin typeface="Arial"/>
                <a:cs typeface="Arial"/>
              </a:rPr>
              <a:t>registered </a:t>
            </a:r>
            <a:r>
              <a:rPr sz="2800" spc="-5" dirty="0">
                <a:latin typeface="Arial"/>
                <a:cs typeface="Arial"/>
              </a:rPr>
              <a:t>with </a:t>
            </a:r>
            <a:r>
              <a:rPr sz="2800" spc="-10" dirty="0">
                <a:latin typeface="Arial"/>
                <a:cs typeface="Arial"/>
              </a:rPr>
              <a:t>one </a:t>
            </a:r>
            <a:r>
              <a:rPr sz="2800" spc="-20" dirty="0">
                <a:latin typeface="Arial"/>
                <a:cs typeface="Arial"/>
              </a:rPr>
              <a:t>FTV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code.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01000" y="394715"/>
            <a:ext cx="4029455" cy="1085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</TotalTime>
  <Words>256</Words>
  <Application>Microsoft Office PowerPoint</Application>
  <PresentationFormat>Widescreen</PresentationFormat>
  <Paragraphs>84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Trebuchet MS</vt:lpstr>
      <vt:lpstr>Office Theme</vt:lpstr>
      <vt:lpstr>FTV  code guideline  for DMS</vt:lpstr>
      <vt:lpstr>PowerPoint Presentation</vt:lpstr>
      <vt:lpstr>NOTICE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Ngoc Nguyen Thi</dc:creator>
  <cp:lastModifiedBy>Giang Tran Huong(DMS_OM)</cp:lastModifiedBy>
  <cp:revision>11</cp:revision>
  <dcterms:created xsi:type="dcterms:W3CDTF">2023-05-26T07:04:52Z</dcterms:created>
  <dcterms:modified xsi:type="dcterms:W3CDTF">2026-04-22T09:28:04Z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2022-06-16T00:00:00Z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2023-05-26T00:00:00Z</vt:filetime>
  </property>
</Properties>
</file>